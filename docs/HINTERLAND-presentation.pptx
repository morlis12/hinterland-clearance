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agl_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960120"/>
            <a:ext cx="2926080" cy="20540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15468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HINTERLAND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10328" y="4224528"/>
            <a:ext cx="2377440" cy="54864"/>
          </a:xfrm>
          <a:prstGeom prst="rect">
            <a:avLst/>
          </a:prstGeom>
          <a:solidFill>
            <a:srgbClr val="E8D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07408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0">
                <a:solidFill>
                  <a:srgbClr val="E8D08D"/>
                </a:solidFill>
                <a:latin typeface="Calibri"/>
              </a:rPr>
              <a:t>Suivi des dossiers en retard 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Présentation projet —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C3359"/>
                </a:solidFill>
                <a:latin typeface="Calibri"/>
              </a:rPr>
              <a:t>Enjeux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2011680" cy="45720"/>
          </a:xfrm>
          <a:prstGeom prst="rect">
            <a:avLst/>
          </a:prstGeom>
          <a:solidFill>
            <a:srgbClr val="E8D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agl_bl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292608"/>
            <a:ext cx="1417320" cy="8904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HINTERLAND — Suivi des dossiers en retard SPOT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2/6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B91C1C"/>
                </a:solidFill>
                <a:latin typeface="Calibri"/>
              </a:rPr>
              <a:t>Le constat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Extractions SPOT volumineuses : fichiers Excel jusqu'à 41 Mo (&gt; 1 million de lignes)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Suivi manuel des retards : 10 catégories, ~20 500 dossiers, 28 COM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Aucun historique : impossible de mesurer l'évolution entre deux extractions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Temps perdu dans les relances et risque d'erreur humaine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3444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5803D"/>
                </a:solidFill>
                <a:latin typeface="Calibri"/>
              </a:rPr>
              <a:t>La réponse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Application web unique : tableau de bord, analyse par COM, détail des dossiers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Comparaison automatique entre extractions (N vs N-1, écart et %)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Import fiable : colonnes détectées par en-têtes, doublons signalés, historique conservé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Accès sécurisé pour les équipes, aucune installation sur les postes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C3359"/>
                </a:solidFill>
                <a:latin typeface="Calibri"/>
              </a:rPr>
              <a:t>Fonctionnalités clés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2011680" cy="45720"/>
          </a:xfrm>
          <a:prstGeom prst="rect">
            <a:avLst/>
          </a:prstGeom>
          <a:solidFill>
            <a:srgbClr val="E8D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agl_bl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292608"/>
            <a:ext cx="1417320" cy="8904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HINTERLAND — Suivi des dossiers en retard SPOT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3/6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31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700" b="0">
                <a:solidFill>
                  <a:srgbClr val="E8D08D"/>
                </a:solidFill>
                <a:latin typeface="Calibri"/>
              </a:rPr>
              <a:t>•  </a:t>
            </a:r>
            <a:r>
              <a:rPr sz="1700" b="1">
                <a:solidFill>
                  <a:srgbClr val="1C3359"/>
                </a:solidFill>
                <a:latin typeface="Calibri"/>
              </a:rPr>
              <a:t>Tableau de bord</a:t>
            </a:r>
            <a:r>
              <a:rPr sz="1700" b="0">
                <a:solidFill>
                  <a:srgbClr val="1E293B"/>
                </a:solidFill>
                <a:latin typeface="Calibri"/>
              </a:rPr>
              <a:t> — 10 indicateurs cliquables, variation vs extraction précédente (▲▼, écart, %, rouge/vert)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700" b="0">
                <a:solidFill>
                  <a:srgbClr val="E8D08D"/>
                </a:solidFill>
                <a:latin typeface="Calibri"/>
              </a:rPr>
              <a:t>•  </a:t>
            </a:r>
            <a:r>
              <a:rPr sz="1700" b="1">
                <a:solidFill>
                  <a:srgbClr val="1C3359"/>
                </a:solidFill>
                <a:latin typeface="Calibri"/>
              </a:rPr>
              <a:t>Analyse par COM</a:t>
            </a:r>
            <a:r>
              <a:rPr sz="1700" b="0">
                <a:solidFill>
                  <a:srgbClr val="1E293B"/>
                </a:solidFill>
                <a:latin typeface="Calibri"/>
              </a:rPr>
              <a:t> — matrice des 10 catégories, taux vs dossiers validés, criticité colorée du rouge au vert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700" b="0">
                <a:solidFill>
                  <a:srgbClr val="E8D08D"/>
                </a:solidFill>
                <a:latin typeface="Calibri"/>
              </a:rPr>
              <a:t>•  </a:t>
            </a:r>
            <a:r>
              <a:rPr sz="1700" b="1">
                <a:solidFill>
                  <a:srgbClr val="1C3359"/>
                </a:solidFill>
                <a:latin typeface="Calibri"/>
              </a:rPr>
              <a:t>Détail des dossiers</a:t>
            </a:r>
            <a:r>
              <a:rPr sz="1700" b="0">
                <a:solidFill>
                  <a:srgbClr val="1E293B"/>
                </a:solidFill>
                <a:latin typeface="Calibri"/>
              </a:rPr>
              <a:t> — recherche, filtres (agence, unité, COM, catégorie), export CSV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700" b="0">
                <a:solidFill>
                  <a:srgbClr val="E8D08D"/>
                </a:solidFill>
                <a:latin typeface="Calibri"/>
              </a:rPr>
              <a:t>•  </a:t>
            </a:r>
            <a:r>
              <a:rPr sz="1700" b="1">
                <a:solidFill>
                  <a:srgbClr val="1C3359"/>
                </a:solidFill>
                <a:latin typeface="Calibri"/>
              </a:rPr>
              <a:t>Évolution</a:t>
            </a:r>
            <a:r>
              <a:rPr sz="1700" b="0">
                <a:solidFill>
                  <a:srgbClr val="1E293B"/>
                </a:solidFill>
                <a:latin typeface="Calibri"/>
              </a:rPr>
              <a:t> — deux extractions comparées, bandeau de synthèse, tendance multi-catégories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700" b="0">
                <a:solidFill>
                  <a:srgbClr val="E8D08D"/>
                </a:solidFill>
                <a:latin typeface="Calibri"/>
              </a:rPr>
              <a:t>•  </a:t>
            </a:r>
            <a:r>
              <a:rPr sz="1700" b="1">
                <a:solidFill>
                  <a:srgbClr val="1C3359"/>
                </a:solidFill>
                <a:latin typeface="Calibri"/>
              </a:rPr>
              <a:t>Import</a:t>
            </a:r>
            <a:r>
              <a:rPr sz="1700" b="0">
                <a:solidFill>
                  <a:srgbClr val="1E293B"/>
                </a:solidFill>
                <a:latin typeface="Calibri"/>
              </a:rPr>
              <a:t> — plusieurs fichiers d'affilée, date d'extraction lue automatiquement, confirmation en cas de doublon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C3359"/>
                </a:solidFill>
                <a:latin typeface="Calibri"/>
              </a:rPr>
              <a:t>Architecture technique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2011680" cy="45720"/>
          </a:xfrm>
          <a:prstGeom prst="rect">
            <a:avLst/>
          </a:prstGeom>
          <a:solidFill>
            <a:srgbClr val="E8D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agl_bl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292608"/>
            <a:ext cx="1417320" cy="8904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HINTERLAND — Suivi des dossiers en retard SPOT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4/6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2926080" cy="914400"/>
          </a:xfrm>
          <a:prstGeom prst="roundRect">
            <a:avLst/>
          </a:prstGeom>
          <a:solidFill>
            <a:srgbClr val="1C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Utilisateurs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Navigateur web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657600" y="1783080"/>
            <a:ext cx="45720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06240" y="1463040"/>
            <a:ext cx="3749039" cy="914400"/>
          </a:xfrm>
          <a:prstGeom prst="roundRect">
            <a:avLst/>
          </a:prstGeom>
          <a:solidFill>
            <a:srgbClr val="1C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Application Next.js 14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Interface + API sécurisée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046720" y="1783080"/>
            <a:ext cx="45720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95360" y="1463040"/>
            <a:ext cx="2926080" cy="914400"/>
          </a:xfrm>
          <a:prstGeom prst="roundRect">
            <a:avLst/>
          </a:prstGeom>
          <a:solidFill>
            <a:srgbClr val="1C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PostgreSQL 16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Base de données managée</a:t>
            </a:r>
          </a:p>
        </p:txBody>
      </p:sp>
      <p:sp>
        <p:nvSpPr>
          <p:cNvPr id="12" name="Up Arrow 11"/>
          <p:cNvSpPr/>
          <p:nvPr/>
        </p:nvSpPr>
        <p:spPr>
          <a:xfrm>
            <a:off x="9829800" y="2514600"/>
            <a:ext cx="457200" cy="502920"/>
          </a:xfrm>
          <a:prstGeom prst="upArrow">
            <a:avLst/>
          </a:prstGeom>
          <a:solidFill>
            <a:srgbClr val="E8D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063240"/>
            <a:ext cx="3566160" cy="914400"/>
          </a:xfrm>
          <a:prstGeom prst="roundRect">
            <a:avLst/>
          </a:prstGeom>
          <a:solidFill>
            <a:srgbClr val="E8D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C3359"/>
                </a:solidFill>
                <a:latin typeface="Calibri"/>
              </a:rPr>
              <a:t>Extractions SPOT</a:t>
            </a:r>
          </a:p>
          <a:p>
            <a:pPr algn="ctr"/>
            <a:r>
              <a:rPr sz="1200" b="1">
                <a:solidFill>
                  <a:srgbClr val="1C3359"/>
                </a:solidFill>
                <a:latin typeface="Calibri"/>
              </a:rPr>
              <a:t>fichiers Excel (A / B)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434840" y="3383280"/>
            <a:ext cx="45720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83480" y="3063240"/>
            <a:ext cx="3017520" cy="914400"/>
          </a:xfrm>
          <a:prstGeom prst="roundRect">
            <a:avLst/>
          </a:prstGeom>
          <a:solidFill>
            <a:srgbClr val="E8D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C3359"/>
                </a:solidFill>
                <a:latin typeface="Calibri"/>
              </a:rPr>
              <a:t>Import web / CLI</a:t>
            </a:r>
          </a:p>
          <a:p>
            <a:pPr algn="ctr"/>
            <a:r>
              <a:rPr sz="1200" b="1">
                <a:solidFill>
                  <a:srgbClr val="1C3359"/>
                </a:solidFill>
                <a:latin typeface="Calibri"/>
              </a:rPr>
              <a:t>multi-fichiers, streaming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138160" y="3383280"/>
            <a:ext cx="45720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0" y="3063240"/>
            <a:ext cx="2834640" cy="914400"/>
          </a:xfrm>
          <a:prstGeom prst="roundRect">
            <a:avLst/>
          </a:prstGeom>
          <a:solidFill>
            <a:srgbClr val="E8D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1C3359"/>
                </a:solidFill>
                <a:latin typeface="Calibri"/>
              </a:rPr>
              <a:t>Contrôles qualité</a:t>
            </a:r>
          </a:p>
          <a:p>
            <a:pPr algn="ctr"/>
            <a:r>
              <a:rPr sz="1200" b="1">
                <a:solidFill>
                  <a:srgbClr val="1C3359"/>
                </a:solidFill>
                <a:latin typeface="Calibri"/>
              </a:rPr>
              <a:t>en-têtes, doublons, totaux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43400"/>
            <a:ext cx="1118311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Une seule application : Next.js 14 (React, TypeScript, Tailwind, Recharts) — UI et API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Déploiement : Vercel + base PostgreSQL managée, ou Docker sur VPS — CI/CD GitHub Actions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Aucune règle métier inventée : l'application affiche les valeurs lues dans les fichiers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C3359"/>
                </a:solidFill>
                <a:latin typeface="Calibri"/>
              </a:rPr>
              <a:t>Données &amp; fiabilité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2011680" cy="45720"/>
          </a:xfrm>
          <a:prstGeom prst="rect">
            <a:avLst/>
          </a:prstGeom>
          <a:solidFill>
            <a:srgbClr val="E8D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agl_bl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292608"/>
            <a:ext cx="1417320" cy="8904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HINTERLAND — Suivi des dossiers en retard SPOT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5/6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31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600" b="0">
                <a:solidFill>
                  <a:srgbClr val="E8D08D"/>
                </a:solidFill>
                <a:latin typeface="Calibri"/>
              </a:rPr>
              <a:t>•  </a:t>
            </a:r>
            <a:r>
              <a:rPr sz="1600" b="1">
                <a:solidFill>
                  <a:srgbClr val="1C3359"/>
                </a:solidFill>
                <a:latin typeface="Calibri"/>
              </a:rPr>
              <a:t>Trois couches</a:t>
            </a:r>
            <a:r>
              <a:rPr sz="1600" b="0">
                <a:solidFill>
                  <a:srgbClr val="1E293B"/>
                </a:solidFill>
                <a:latin typeface="Calibri"/>
              </a:rPr>
              <a:t> — lignes brutes (par dossier), historique des imports, agrégats calculés à la demande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600" b="0">
                <a:solidFill>
                  <a:srgbClr val="E8D08D"/>
                </a:solidFill>
                <a:latin typeface="Calibri"/>
              </a:rPr>
              <a:t>•  </a:t>
            </a:r>
            <a:r>
              <a:rPr sz="1600" b="1">
                <a:solidFill>
                  <a:srgbClr val="1C3359"/>
                </a:solidFill>
                <a:latin typeface="Calibri"/>
              </a:rPr>
              <a:t>Traçabilité complète</a:t>
            </a:r>
            <a:r>
              <a:rPr sz="1600" b="0">
                <a:solidFill>
                  <a:srgbClr val="1E293B"/>
                </a:solidFill>
                <a:latin typeface="Calibri"/>
              </a:rPr>
              <a:t> — chaque import : nom, empreinte SHA-256, date d'extraction, origine, avertissements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600" b="0">
                <a:solidFill>
                  <a:srgbClr val="E8D08D"/>
                </a:solidFill>
                <a:latin typeface="Calibri"/>
              </a:rPr>
              <a:t>•  </a:t>
            </a:r>
            <a:r>
              <a:rPr sz="1600" b="1">
                <a:solidFill>
                  <a:srgbClr val="1C3359"/>
                </a:solidFill>
                <a:latin typeface="Calibri"/>
              </a:rPr>
              <a:t>Contrôles systématiques</a:t>
            </a:r>
            <a:r>
              <a:rPr sz="1600" b="0">
                <a:solidFill>
                  <a:srgbClr val="1E293B"/>
                </a:solidFill>
                <a:latin typeface="Calibri"/>
              </a:rPr>
              <a:t> — colonnes détectées par en-têtes (jamais par position), totaux exclus, doublons conservés et signalés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600" b="0">
                <a:solidFill>
                  <a:srgbClr val="E8D08D"/>
                </a:solidFill>
                <a:latin typeface="Calibri"/>
              </a:rPr>
              <a:t>•  </a:t>
            </a:r>
            <a:r>
              <a:rPr sz="1600" b="1">
                <a:solidFill>
                  <a:srgbClr val="1C3359"/>
                </a:solidFill>
                <a:latin typeface="Calibri"/>
              </a:rPr>
              <a:t>Écarts documentés</a:t>
            </a:r>
            <a:r>
              <a:rPr sz="1600" b="0">
                <a:solidFill>
                  <a:srgbClr val="1E293B"/>
                </a:solidFill>
                <a:latin typeface="Calibri"/>
              </a:rPr>
              <a:t> — exemple : Livraison 116 (fichier) vs 114 (dossiers) = 2 cellules valant « 2 » — aucun écart masqué</a:t>
            </a:r>
          </a:p>
          <a:p>
            <a:pPr algn="l">
              <a:lnSpc>
                <a:spcPct val="100000"/>
              </a:lnSpc>
              <a:spcAft>
                <a:spcPts val="1600"/>
              </a:spcAft>
            </a:pPr>
            <a:r>
              <a:rPr sz="1600" b="0">
                <a:solidFill>
                  <a:srgbClr val="E8D08D"/>
                </a:solidFill>
                <a:latin typeface="Calibri"/>
              </a:rPr>
              <a:t>•  </a:t>
            </a:r>
            <a:r>
              <a:rPr sz="1600" b="1">
                <a:solidFill>
                  <a:srgbClr val="1C3359"/>
                </a:solidFill>
                <a:latin typeface="Calibri"/>
              </a:rPr>
              <a:t>Volume maîtrisé</a:t>
            </a:r>
            <a:r>
              <a:rPr sz="1600" b="0">
                <a:solidFill>
                  <a:srgbClr val="1E293B"/>
                </a:solidFill>
                <a:latin typeface="Calibri"/>
              </a:rPr>
              <a:t> — 20 566 dossiers ≈ 4 Mo ; projection ≈ 200 Mo par million de lignes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1C3359"/>
                </a:solidFill>
                <a:latin typeface="Calibri"/>
              </a:rPr>
              <a:t>Sécurité, coûts et suite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2011680" cy="45720"/>
          </a:xfrm>
          <a:prstGeom prst="rect">
            <a:avLst/>
          </a:prstGeom>
          <a:solidFill>
            <a:srgbClr val="E8D0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agl_bl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292608"/>
            <a:ext cx="1417320" cy="8904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7395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HINTERLAND — Suivi des dossiers en retard SPOT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6/6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31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sz="1700" b="0">
                <a:solidFill>
                  <a:srgbClr val="E8D08D"/>
                </a:solidFill>
                <a:latin typeface="Calibri"/>
              </a:rPr>
              <a:t>•  </a:t>
            </a:r>
            <a:r>
              <a:rPr sz="1700" b="1">
                <a:solidFill>
                  <a:srgbClr val="1C3359"/>
                </a:solidFill>
                <a:latin typeface="Calibri"/>
              </a:rPr>
              <a:t>Sécurité</a:t>
            </a:r>
            <a:r>
              <a:rPr sz="1700" b="0">
                <a:solidFill>
                  <a:srgbClr val="1E293B"/>
                </a:solidFill>
                <a:latin typeface="Calibri"/>
              </a:rPr>
              <a:t> — accès protégé (session signée), secrets hors du code, HTTPS, base isolée</a:t>
            </a:r>
          </a:p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sz="1700" b="0">
                <a:solidFill>
                  <a:srgbClr val="E8D08D"/>
                </a:solidFill>
                <a:latin typeface="Calibri"/>
              </a:rPr>
              <a:t>•  </a:t>
            </a:r>
            <a:r>
              <a:rPr sz="1700" b="1">
                <a:solidFill>
                  <a:srgbClr val="1C3359"/>
                </a:solidFill>
                <a:latin typeface="Calibri"/>
              </a:rPr>
              <a:t>Coûts</a:t>
            </a:r>
            <a:r>
              <a:rPr sz="1700" b="0">
                <a:solidFill>
                  <a:srgbClr val="1E293B"/>
                </a:solidFill>
                <a:latin typeface="Calibri"/>
              </a:rPr>
              <a:t> — hébergement léger et base managée modeste : pas de licence supplémentaire</a:t>
            </a:r>
          </a:p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sz="1700" b="0">
                <a:solidFill>
                  <a:srgbClr val="E8D08D"/>
                </a:solidFill>
                <a:latin typeface="Calibri"/>
              </a:rPr>
              <a:t>•  </a:t>
            </a:r>
            <a:r>
              <a:rPr sz="1700" b="1">
                <a:solidFill>
                  <a:srgbClr val="1C3359"/>
                </a:solidFill>
                <a:latin typeface="Calibri"/>
              </a:rPr>
              <a:t>Décision attendue</a:t>
            </a:r>
            <a:r>
              <a:rPr sz="1700" b="0">
                <a:solidFill>
                  <a:srgbClr val="1E293B"/>
                </a:solidFill>
                <a:latin typeface="Calibri"/>
              </a:rPr>
              <a:t> — validation du déploiement pour les équipes</a:t>
            </a:r>
          </a:p>
          <a:p>
            <a:pPr algn="l">
              <a:lnSpc>
                <a:spcPct val="100000"/>
              </a:lnSpc>
              <a:spcAft>
                <a:spcPts val="1800"/>
              </a:spcAft>
            </a:pPr>
            <a:r>
              <a:rPr sz="1700" b="0">
                <a:solidFill>
                  <a:srgbClr val="E8D08D"/>
                </a:solidFill>
                <a:latin typeface="Calibri"/>
              </a:rPr>
              <a:t>•  </a:t>
            </a:r>
            <a:r>
              <a:rPr sz="1700" b="1">
                <a:solidFill>
                  <a:srgbClr val="1C3359"/>
                </a:solidFill>
                <a:latin typeface="Calibri"/>
              </a:rPr>
              <a:t>Prochaines étapes</a:t>
            </a:r>
            <a:r>
              <a:rPr sz="1700" b="0">
                <a:solidFill>
                  <a:srgbClr val="1E293B"/>
                </a:solidFill>
                <a:latin typeface="Calibri"/>
              </a:rPr>
              <a:t> — comptes individuels / SSO Microsoft, import planifié, alertes e-mail sur dégradation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HINTERLAND — Présentation projet</dc:title>
  <dc:subject/>
  <dc:creator>Direction des systèmes d'information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